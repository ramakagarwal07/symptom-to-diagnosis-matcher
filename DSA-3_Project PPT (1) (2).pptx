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77598" y="527443"/>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dirty="0">
                <a:solidFill>
                  <a:srgbClr val="FF0000"/>
                </a:solidFill>
              </a:rPr>
              <a:t>Symptom-to-Diagnosis Matcher</a:t>
            </a:r>
            <a:endParaRPr lang="en-US" sz="4000" b="1" dirty="0">
              <a:solidFill>
                <a:srgbClr val="FF0000"/>
              </a:solidFill>
              <a:latin typeface="+mn-lt"/>
            </a:endParaRPr>
          </a:p>
        </p:txBody>
      </p:sp>
      <p:sp>
        <p:nvSpPr>
          <p:cNvPr id="3" name="Subtitle 2"/>
          <p:cNvSpPr>
            <a:spLocks noGrp="1"/>
          </p:cNvSpPr>
          <p:nvPr>
            <p:ph type="subTitle" idx="1"/>
          </p:nvPr>
        </p:nvSpPr>
        <p:spPr>
          <a:xfrm>
            <a:off x="3130063" y="3221966"/>
            <a:ext cx="7039070" cy="1212011"/>
          </a:xfrm>
        </p:spPr>
        <p:txBody>
          <a:bodyPr/>
          <a:lstStyle/>
          <a:p>
            <a:r>
              <a:rPr lang="en-US" dirty="0">
                <a:solidFill>
                  <a:srgbClr val="0070C0"/>
                </a:solidFill>
              </a:rPr>
              <a:t>Team Members</a:t>
            </a:r>
          </a:p>
          <a:p>
            <a:r>
              <a:rPr lang="en-US" sz="1800" dirty="0">
                <a:solidFill>
                  <a:srgbClr val="0070C0"/>
                </a:solidFill>
              </a:rPr>
              <a:t>Name: Anirudh </a:t>
            </a:r>
            <a:r>
              <a:rPr lang="en-US" sz="1800" dirty="0" err="1">
                <a:solidFill>
                  <a:srgbClr val="0070C0"/>
                </a:solidFill>
              </a:rPr>
              <a:t>konjeti</a:t>
            </a:r>
            <a:r>
              <a:rPr lang="en-US" sz="1800" dirty="0">
                <a:solidFill>
                  <a:srgbClr val="0070C0"/>
                </a:solidFill>
              </a:rPr>
              <a:t>                          Rollno:2520080028</a:t>
            </a:r>
          </a:p>
          <a:p>
            <a:r>
              <a:rPr lang="en-US" sz="1800" dirty="0" err="1">
                <a:solidFill>
                  <a:srgbClr val="0070C0"/>
                </a:solidFill>
              </a:rPr>
              <a:t>Name:Ram</a:t>
            </a:r>
            <a:r>
              <a:rPr lang="en-US" sz="1800" dirty="0">
                <a:solidFill>
                  <a:srgbClr val="0070C0"/>
                </a:solidFill>
              </a:rPr>
              <a:t> Mohan Agarwal                  Rollno:2520090037</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 </a:t>
            </a:r>
          </a:p>
          <a:p>
            <a:pPr marL="171450" algn="ctr">
              <a:lnSpc>
                <a:spcPct val="107000"/>
              </a:lnSpc>
              <a:spcAft>
                <a:spcPts val="800"/>
              </a:spcAft>
            </a:pPr>
            <a:r>
              <a:rPr lang="en-IN" dirty="0"/>
              <a:t>Mrs. Ch. Anitha</a:t>
            </a:r>
          </a:p>
          <a:p>
            <a:r>
              <a:rPr lang="en-IN" dirty="0"/>
              <a:t>Asst. Professor, CS&amp;IT</a:t>
            </a:r>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7460C191-1357-F614-89EE-9CC91155EFFC}"/>
              </a:ext>
            </a:extLst>
          </p:cNvPr>
          <p:cNvSpPr txBox="1"/>
          <p:nvPr/>
        </p:nvSpPr>
        <p:spPr>
          <a:xfrm>
            <a:off x="3395215" y="1159169"/>
            <a:ext cx="7931270" cy="5324535"/>
          </a:xfrm>
          <a:prstGeom prst="rect">
            <a:avLst/>
          </a:prstGeom>
          <a:noFill/>
        </p:spPr>
        <p:txBody>
          <a:bodyPr wrap="square">
            <a:spAutoFit/>
          </a:bodyPr>
          <a:lstStyle/>
          <a:p>
            <a:pPr algn="just">
              <a:buNone/>
            </a:pPr>
            <a:r>
              <a:rPr lang="en-IN" sz="2000" kern="0" dirty="0">
                <a:effectLst/>
                <a:latin typeface="+mn-lt"/>
              </a:rPr>
              <a:t>This project presents a decision-support engine that maps free-text patient symptom descriptions to likely medical diagnoses in a transparent, explainable manner. The system first normalizes raw symptom text — handling synonyms, misspellings, negations, and varied phrasing — into standardized clinical terms. It then scores candidate diagnoses from a structured medical knowledge base using a weighted matching algorithm that accounts for symptom specificity, frequency of co-occurrence, and evidence strength, producing a ranked differential diagnosis list with interpret able confidence scores rather than opaque probabilities. To help narrow ambiguity between top candidates, the engine identifies which additional clinical tests would most effectively discriminate among the remaining possibilities, using an information-gain-style approach to recommend a minimal, targeted test set rather than exhaustive screening. The result is a lightweight, audit able clinical reasoning aid intended to support — not replace — clinician judgment, emphasizing traceability of every score back to underlying symptom-condition evidence so users can understand exactly why a diagnosis was suggested.</a:t>
            </a:r>
            <a:endParaRPr lang="en-IN" sz="2000" dirty="0">
              <a:effectLst/>
              <a:latin typeface="Times New Roman" panose="02020603050405020304" pitchFamily="18" charset="0"/>
            </a:endParaRP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7" name="TextBox 6">
            <a:extLst>
              <a:ext uri="{FF2B5EF4-FFF2-40B4-BE49-F238E27FC236}">
                <a16:creationId xmlns:a16="http://schemas.microsoft.com/office/drawing/2014/main" id="{C5C6216B-966C-070F-D039-1A0E470BB2C7}"/>
              </a:ext>
            </a:extLst>
          </p:cNvPr>
          <p:cNvSpPr txBox="1"/>
          <p:nvPr/>
        </p:nvSpPr>
        <p:spPr>
          <a:xfrm>
            <a:off x="3133544" y="1322594"/>
            <a:ext cx="8710523" cy="4401205"/>
          </a:xfrm>
          <a:prstGeom prst="rect">
            <a:avLst/>
          </a:prstGeom>
          <a:noFill/>
        </p:spPr>
        <p:txBody>
          <a:bodyPr wrap="square">
            <a:spAutoFit/>
          </a:bodyPr>
          <a:lstStyle/>
          <a:p>
            <a:pPr marL="342900" lvl="0" indent="-342900">
              <a:buFont typeface="Arial" panose="020B0604020202020204" pitchFamily="34" charset="0"/>
              <a:buChar char="•"/>
            </a:pPr>
            <a:r>
              <a:rPr lang="en-IN" sz="2000" dirty="0"/>
              <a:t>Diagnosing diseases from symptoms can be challenging because </a:t>
            </a:r>
            <a:r>
              <a:rPr lang="en-IN" sz="2000" b="1" dirty="0"/>
              <a:t>different diseases may share similar symptoms</a:t>
            </a:r>
            <a:r>
              <a:rPr lang="en-IN" sz="2000" dirty="0"/>
              <a:t>. </a:t>
            </a:r>
          </a:p>
          <a:p>
            <a:pPr marL="342900" lvl="0" indent="-342900">
              <a:buFont typeface="Arial" panose="020B0604020202020204" pitchFamily="34" charset="0"/>
              <a:buChar char="•"/>
            </a:pPr>
            <a:r>
              <a:rPr lang="en-IN" sz="2000" dirty="0"/>
              <a:t>Patients may describe symptoms using </a:t>
            </a:r>
            <a:r>
              <a:rPr lang="en-IN" sz="2000" b="1" dirty="0"/>
              <a:t>different terms, misspellings, synonyms, or incomplete sentences</a:t>
            </a:r>
            <a:r>
              <a:rPr lang="en-IN" sz="2000" dirty="0"/>
              <a:t>. </a:t>
            </a:r>
          </a:p>
          <a:p>
            <a:pPr marL="342900" lvl="0" indent="-342900">
              <a:buFont typeface="Arial" panose="020B0604020202020204" pitchFamily="34" charset="0"/>
              <a:buChar char="•"/>
            </a:pPr>
            <a:r>
              <a:rPr lang="en-IN" sz="2000" dirty="0"/>
              <a:t>The </a:t>
            </a:r>
            <a:r>
              <a:rPr lang="en-IN" sz="2000" b="1" dirty="0"/>
              <a:t>Symptom-to-Diagnosis Matcher</a:t>
            </a:r>
            <a:r>
              <a:rPr lang="en-IN" sz="2000" dirty="0"/>
              <a:t> processes this free-text input and converts it into standardized clinical symptoms. </a:t>
            </a:r>
          </a:p>
          <a:p>
            <a:pPr marL="342900" lvl="0" indent="-342900">
              <a:buFont typeface="Arial" panose="020B0604020202020204" pitchFamily="34" charset="0"/>
              <a:buChar char="•"/>
            </a:pPr>
            <a:r>
              <a:rPr lang="en-IN" sz="2000" dirty="0"/>
              <a:t>It compares these symptoms with a </a:t>
            </a:r>
            <a:r>
              <a:rPr lang="en-IN" sz="2000" b="1" dirty="0"/>
              <a:t>structured medical knowledge base</a:t>
            </a:r>
            <a:r>
              <a:rPr lang="en-IN" sz="2000" dirty="0"/>
              <a:t> and ranks the most likely diagnoses. </a:t>
            </a:r>
          </a:p>
          <a:p>
            <a:pPr marL="342900" lvl="0" indent="-342900">
              <a:buFont typeface="Arial" panose="020B0604020202020204" pitchFamily="34" charset="0"/>
              <a:buChar char="•"/>
            </a:pPr>
            <a:r>
              <a:rPr lang="en-IN" sz="2000" dirty="0"/>
              <a:t>The system provides </a:t>
            </a:r>
            <a:r>
              <a:rPr lang="en-IN" sz="2000" b="1" dirty="0"/>
              <a:t>interpretable confidence scores</a:t>
            </a:r>
            <a:r>
              <a:rPr lang="en-IN" sz="2000" dirty="0"/>
              <a:t> and explains which symptoms contributed to each result. </a:t>
            </a:r>
          </a:p>
          <a:p>
            <a:pPr marL="342900" lvl="0" indent="-342900">
              <a:buFont typeface="Arial" panose="020B0604020202020204" pitchFamily="34" charset="0"/>
              <a:buChar char="•"/>
            </a:pPr>
            <a:r>
              <a:rPr lang="en-IN" sz="2000" dirty="0"/>
              <a:t>It can recommend </a:t>
            </a:r>
            <a:r>
              <a:rPr lang="en-IN" sz="2000" b="1" dirty="0"/>
              <a:t>targeted medical tests</a:t>
            </a:r>
            <a:r>
              <a:rPr lang="en-IN" sz="2000" dirty="0"/>
              <a:t> to differentiate between closely related conditions. </a:t>
            </a:r>
          </a:p>
          <a:p>
            <a:pPr marL="342900" lvl="0" indent="-342900">
              <a:buFont typeface="Arial" panose="020B0604020202020204" pitchFamily="34" charset="0"/>
              <a:buChar char="•"/>
            </a:pPr>
            <a:r>
              <a:rPr lang="en-IN" sz="2000" dirty="0"/>
              <a:t>The system is designed as a </a:t>
            </a:r>
            <a:r>
              <a:rPr lang="en-IN" sz="2000" b="1" dirty="0"/>
              <a:t>decision-support tool for healthcare professionals</a:t>
            </a:r>
            <a:r>
              <a:rPr lang="en-IN" sz="2000" dirty="0"/>
              <a:t>, not as a replacement for doctors.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294E9382-6258-A6E6-906E-2C267CCB89A5}"/>
              </a:ext>
            </a:extLst>
          </p:cNvPr>
          <p:cNvSpPr txBox="1"/>
          <p:nvPr/>
        </p:nvSpPr>
        <p:spPr>
          <a:xfrm>
            <a:off x="3288820" y="1159291"/>
            <a:ext cx="8546621" cy="4708981"/>
          </a:xfrm>
          <a:prstGeom prst="rect">
            <a:avLst/>
          </a:prstGeom>
          <a:noFill/>
        </p:spPr>
        <p:txBody>
          <a:bodyPr wrap="square">
            <a:spAutoFit/>
          </a:bodyPr>
          <a:lstStyle/>
          <a:p>
            <a:pPr marL="342900" lvl="0" indent="-342900">
              <a:buFont typeface="Arial" panose="020B0604020202020204" pitchFamily="34" charset="0"/>
              <a:buChar char="•"/>
            </a:pPr>
            <a:r>
              <a:rPr lang="en-IN" sz="2000" b="1" dirty="0"/>
              <a:t>Traditional Rule-Based Systems:</a:t>
            </a:r>
            <a:r>
              <a:rPr lang="en-IN" sz="2000" dirty="0"/>
              <a:t> Early medical diagnosis systems used predefined rules to match symptoms with diseases. They are easy to understand but may have limited flexibility. </a:t>
            </a:r>
          </a:p>
          <a:p>
            <a:pPr marL="342900" lvl="0" indent="-342900">
              <a:buFont typeface="Arial" panose="020B0604020202020204" pitchFamily="34" charset="0"/>
              <a:buChar char="•"/>
            </a:pPr>
            <a:r>
              <a:rPr lang="en-IN" sz="2000" b="1" dirty="0"/>
              <a:t>Machine Learning Approaches:</a:t>
            </a:r>
            <a:r>
              <a:rPr lang="en-IN" sz="2000" dirty="0"/>
              <a:t> ML techniques such as Decision Trees, Naive Bayes, and SVM have been used to predict diseases from symptom patterns. </a:t>
            </a:r>
          </a:p>
          <a:p>
            <a:pPr marL="342900" lvl="0" indent="-342900">
              <a:buFont typeface="Arial" panose="020B0604020202020204" pitchFamily="34" charset="0"/>
              <a:buChar char="•"/>
            </a:pPr>
            <a:r>
              <a:rPr lang="en-IN" sz="2000" b="1" dirty="0"/>
              <a:t>Natural Language Processing (NLP):</a:t>
            </a:r>
            <a:r>
              <a:rPr lang="en-IN" sz="2000" dirty="0"/>
              <a:t> NLP methods help extract meaningful medical information from </a:t>
            </a:r>
            <a:r>
              <a:rPr lang="en-IN" sz="2000" b="1" dirty="0"/>
              <a:t>free-text patient descriptions</a:t>
            </a:r>
            <a:r>
              <a:rPr lang="en-IN" sz="2000" dirty="0"/>
              <a:t>, including synonyms and variations in wording. </a:t>
            </a:r>
          </a:p>
          <a:p>
            <a:pPr marL="342900" lvl="0" indent="-342900">
              <a:buFont typeface="Arial" panose="020B0604020202020204" pitchFamily="34" charset="0"/>
              <a:buChar char="•"/>
            </a:pPr>
            <a:r>
              <a:rPr lang="en-IN" sz="2000" b="1" dirty="0"/>
              <a:t>Knowledge-Based Systems:</a:t>
            </a:r>
            <a:r>
              <a:rPr lang="en-IN" sz="2000" dirty="0"/>
              <a:t> Medical knowledge bases connect diseases with their associated symptoms and provide evidence for possible diagnoses. </a:t>
            </a:r>
          </a:p>
          <a:p>
            <a:pPr marL="342900" lvl="0" indent="-342900">
              <a:buFont typeface="Arial" panose="020B0604020202020204" pitchFamily="34" charset="0"/>
              <a:buChar char="•"/>
            </a:pPr>
            <a:r>
              <a:rPr lang="en-IN" sz="2000" b="1" dirty="0"/>
              <a:t>Explainable AI (XAI):</a:t>
            </a:r>
            <a:r>
              <a:rPr lang="en-IN" sz="2000" dirty="0"/>
              <a:t> Recent systems focus on explaining </a:t>
            </a:r>
            <a:r>
              <a:rPr lang="en-IN" sz="2000" b="1" dirty="0"/>
              <a:t>why a particular diagnosis is suggested</a:t>
            </a:r>
            <a:r>
              <a:rPr lang="en-IN" sz="2000" dirty="0"/>
              <a:t>, improving transparency and user trust. </a:t>
            </a:r>
          </a:p>
          <a:p>
            <a:pPr marL="342900" lvl="0" indent="-342900">
              <a:buFont typeface="Arial" panose="020B0604020202020204" pitchFamily="34" charset="0"/>
              <a:buChar char="•"/>
            </a:pPr>
            <a:r>
              <a:rPr lang="en-IN" sz="2000" b="1" dirty="0"/>
              <a:t>Research Gap:</a:t>
            </a:r>
            <a:r>
              <a:rPr lang="en-IN" sz="2000" dirty="0"/>
              <a:t> Many existing systems focus mainly on prediction, while fewer combine </a:t>
            </a:r>
            <a:r>
              <a:rPr lang="en-IN" sz="2000" b="1" dirty="0"/>
              <a:t>free-text symptom processing, explainable diagnosis ranking, and targeted test recommendations</a:t>
            </a:r>
            <a:r>
              <a:rPr lang="en-IN" sz="2000" dirty="0"/>
              <a:t> in a lightweight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7" name="TextBox 6">
            <a:extLst>
              <a:ext uri="{FF2B5EF4-FFF2-40B4-BE49-F238E27FC236}">
                <a16:creationId xmlns:a16="http://schemas.microsoft.com/office/drawing/2014/main" id="{2A3FC9E6-D91A-FEA8-D565-34DD9E3B49EC}"/>
              </a:ext>
            </a:extLst>
          </p:cNvPr>
          <p:cNvSpPr txBox="1"/>
          <p:nvPr/>
        </p:nvSpPr>
        <p:spPr>
          <a:xfrm>
            <a:off x="3211182" y="1137626"/>
            <a:ext cx="8745030" cy="5324535"/>
          </a:xfrm>
          <a:prstGeom prst="rect">
            <a:avLst/>
          </a:prstGeom>
          <a:noFill/>
        </p:spPr>
        <p:txBody>
          <a:bodyPr wrap="square">
            <a:spAutoFit/>
          </a:bodyPr>
          <a:lstStyle/>
          <a:p>
            <a:pPr>
              <a:buNone/>
            </a:pPr>
            <a:r>
              <a:rPr lang="en-IN" sz="2000" b="1" dirty="0"/>
              <a:t>Problem Statement</a:t>
            </a:r>
          </a:p>
          <a:p>
            <a:pPr marL="342900" lvl="0" indent="-342900">
              <a:buFont typeface="Arial" panose="020B0604020202020204" pitchFamily="34" charset="0"/>
              <a:buChar char="•"/>
            </a:pPr>
            <a:r>
              <a:rPr lang="en-IN" sz="2000" dirty="0"/>
              <a:t>Patients describe symptoms in different words, incomplete sentences, or with spelling mistakes.</a:t>
            </a:r>
          </a:p>
          <a:p>
            <a:pPr marL="342900" lvl="0" indent="-342900">
              <a:buFont typeface="Arial" panose="020B0604020202020204" pitchFamily="34" charset="0"/>
              <a:buChar char="•"/>
            </a:pPr>
            <a:r>
              <a:rPr lang="en-IN" sz="2000" dirty="0"/>
              <a:t>Similar symptoms can be associated with multiple diseases, making diagnosis difficult.</a:t>
            </a:r>
          </a:p>
          <a:p>
            <a:pPr marL="342900" lvl="0" indent="-342900">
              <a:buFont typeface="Arial" panose="020B0604020202020204" pitchFamily="34" charset="0"/>
              <a:buChar char="•"/>
            </a:pPr>
            <a:r>
              <a:rPr lang="en-IN" sz="2000" dirty="0"/>
              <a:t>Existing systems may provide predictions without clearly explaining why a diagnosis was suggested.</a:t>
            </a:r>
          </a:p>
          <a:p>
            <a:pPr marL="342900" lvl="0" indent="-342900">
              <a:buFont typeface="Arial" panose="020B0604020202020204" pitchFamily="34" charset="0"/>
              <a:buChar char="•"/>
            </a:pPr>
            <a:r>
              <a:rPr lang="en-IN" sz="2000" dirty="0"/>
              <a:t>There is a need for an accurate, transparent, and explainable symptom-based decision-support system.</a:t>
            </a:r>
          </a:p>
          <a:p>
            <a:pPr>
              <a:buNone/>
            </a:pPr>
            <a:r>
              <a:rPr lang="en-IN" sz="2000" b="1" dirty="0"/>
              <a:t>Objectives</a:t>
            </a:r>
          </a:p>
          <a:p>
            <a:pPr marL="342900" lvl="0" indent="-342900">
              <a:buFont typeface="Arial" panose="020B0604020202020204" pitchFamily="34" charset="0"/>
              <a:buChar char="•"/>
            </a:pPr>
            <a:r>
              <a:rPr lang="en-IN" sz="2000" dirty="0"/>
              <a:t>Convert free-text symptom descriptions into standardized medical terms.</a:t>
            </a:r>
          </a:p>
          <a:p>
            <a:pPr marL="342900" lvl="0" indent="-342900">
              <a:buFont typeface="Arial" panose="020B0604020202020204" pitchFamily="34" charset="0"/>
              <a:buChar char="•"/>
            </a:pPr>
            <a:r>
              <a:rPr lang="en-IN" sz="2000" dirty="0"/>
              <a:t>Match symptoms with a medical knowledge base to identify possible diagnoses.</a:t>
            </a:r>
          </a:p>
          <a:p>
            <a:pPr marL="342900" lvl="0" indent="-342900">
              <a:buFont typeface="Arial" panose="020B0604020202020204" pitchFamily="34" charset="0"/>
              <a:buChar char="•"/>
            </a:pPr>
            <a:r>
              <a:rPr lang="en-IN" sz="2000" dirty="0"/>
              <a:t>Rank diagnoses based on symptom relevance and evidence strength.</a:t>
            </a:r>
          </a:p>
          <a:p>
            <a:pPr marL="342900" lvl="0" indent="-342900">
              <a:buFont typeface="Arial" panose="020B0604020202020204" pitchFamily="34" charset="0"/>
              <a:buChar char="•"/>
            </a:pPr>
            <a:r>
              <a:rPr lang="en-IN" sz="2000" dirty="0"/>
              <a:t>Provide explainable results showing why a diagnosis is suggested.</a:t>
            </a:r>
          </a:p>
          <a:p>
            <a:pPr marL="342900" lvl="0" indent="-342900">
              <a:buFont typeface="Arial" panose="020B0604020202020204" pitchFamily="34" charset="0"/>
              <a:buChar char="•"/>
            </a:pPr>
            <a:r>
              <a:rPr lang="en-IN" sz="2000" dirty="0"/>
              <a:t>Recommend additional targeted tests to differentiate similar conditions.</a:t>
            </a:r>
          </a:p>
          <a:p>
            <a:pPr marL="342900" lvl="0" indent="-342900">
              <a:buFont typeface="Arial" panose="020B0604020202020204" pitchFamily="34" charset="0"/>
              <a:buChar char="•"/>
            </a:pPr>
            <a:r>
              <a:rPr lang="en-IN" sz="2000" dirty="0"/>
              <a:t>Support healthcare professionals' decision-making, not replace doctors.</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5" name="Picture 4">
            <a:extLst>
              <a:ext uri="{FF2B5EF4-FFF2-40B4-BE49-F238E27FC236}">
                <a16:creationId xmlns:a16="http://schemas.microsoft.com/office/drawing/2014/main" id="{C08AE089-8253-312C-044C-2FF3ACEB804C}"/>
              </a:ext>
            </a:extLst>
          </p:cNvPr>
          <p:cNvPicPr>
            <a:picLocks noChangeAspect="1"/>
          </p:cNvPicPr>
          <p:nvPr/>
        </p:nvPicPr>
        <p:blipFill>
          <a:blip r:embed="rId2"/>
          <a:stretch>
            <a:fillRect/>
          </a:stretch>
        </p:blipFill>
        <p:spPr>
          <a:xfrm>
            <a:off x="4211127" y="849578"/>
            <a:ext cx="3769744" cy="5654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9" name="TextBox 8">
            <a:extLst>
              <a:ext uri="{FF2B5EF4-FFF2-40B4-BE49-F238E27FC236}">
                <a16:creationId xmlns:a16="http://schemas.microsoft.com/office/drawing/2014/main" id="{A329024A-12B3-77D5-1897-707018FAEA56}"/>
              </a:ext>
            </a:extLst>
          </p:cNvPr>
          <p:cNvSpPr txBox="1"/>
          <p:nvPr/>
        </p:nvSpPr>
        <p:spPr>
          <a:xfrm>
            <a:off x="3504480" y="1443840"/>
            <a:ext cx="8261949" cy="4401205"/>
          </a:xfrm>
          <a:prstGeom prst="rect">
            <a:avLst/>
          </a:prstGeom>
          <a:noFill/>
        </p:spPr>
        <p:txBody>
          <a:bodyPr wrap="square">
            <a:spAutoFit/>
          </a:bodyPr>
          <a:lstStyle/>
          <a:p>
            <a:pPr marL="342900" lvl="0" indent="-342900">
              <a:buFont typeface="Arial" panose="020B0604020202020204" pitchFamily="34" charset="0"/>
              <a:buChar char="•"/>
            </a:pPr>
            <a:r>
              <a:rPr lang="en-IN" sz="2000" dirty="0"/>
              <a:t>Successfully maps patient symptom descriptions to likely medical diagnoses. </a:t>
            </a:r>
          </a:p>
          <a:p>
            <a:pPr marL="342900" lvl="0" indent="-342900">
              <a:buFont typeface="Arial" panose="020B0604020202020204" pitchFamily="34" charset="0"/>
              <a:buChar char="•"/>
            </a:pPr>
            <a:r>
              <a:rPr lang="en-IN" sz="2000" dirty="0"/>
              <a:t>Symptom text is normalized to handle synonyms, spelling variations, and different expressions. </a:t>
            </a:r>
          </a:p>
          <a:p>
            <a:pPr marL="342900" lvl="0" indent="-342900">
              <a:buFont typeface="Arial" panose="020B0604020202020204" pitchFamily="34" charset="0"/>
              <a:buChar char="•"/>
            </a:pPr>
            <a:r>
              <a:rPr lang="en-IN" sz="2000" dirty="0"/>
              <a:t>The system identifies relevant symptoms and compares them with the available disease knowledge base. </a:t>
            </a:r>
          </a:p>
          <a:p>
            <a:pPr marL="342900" lvl="0" indent="-342900">
              <a:buFont typeface="Arial" panose="020B0604020202020204" pitchFamily="34" charset="0"/>
              <a:buChar char="•"/>
            </a:pPr>
            <a:r>
              <a:rPr lang="en-IN" sz="2000" dirty="0"/>
              <a:t>Provides a ranked list of possible diagnoses instead of a single unexplained prediction. </a:t>
            </a:r>
          </a:p>
          <a:p>
            <a:pPr marL="342900" lvl="0" indent="-342900">
              <a:buFont typeface="Arial" panose="020B0604020202020204" pitchFamily="34" charset="0"/>
              <a:buChar char="•"/>
            </a:pPr>
            <a:r>
              <a:rPr lang="en-IN" sz="2000" dirty="0"/>
              <a:t>Uses an explainable approach, showing the symptoms that contributed to the predicted diagnosis. </a:t>
            </a:r>
          </a:p>
          <a:p>
            <a:pPr marL="342900" lvl="0" indent="-342900">
              <a:buFont typeface="Arial" panose="020B0604020202020204" pitchFamily="34" charset="0"/>
              <a:buChar char="•"/>
            </a:pPr>
            <a:r>
              <a:rPr lang="en-IN" sz="2000" dirty="0"/>
              <a:t>Helps users understand possible conditions and supports preliminary clinical decision-making. </a:t>
            </a:r>
          </a:p>
          <a:p>
            <a:pPr marL="342900" lvl="0" indent="-342900">
              <a:buFont typeface="Arial" panose="020B0604020202020204" pitchFamily="34" charset="0"/>
              <a:buChar char="•"/>
            </a:pPr>
            <a:r>
              <a:rPr lang="en-IN" sz="2000" dirty="0"/>
              <a:t>The system is designed as a </a:t>
            </a:r>
            <a:r>
              <a:rPr lang="en-IN" sz="2000" b="1" dirty="0"/>
              <a:t>decision-support tool and not a replacement for professional medical diagnosis</a:t>
            </a:r>
            <a:r>
              <a:rPr lang="en-IN" sz="2000" dirty="0"/>
              <a:t>. </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7" name="TextBox 6">
            <a:extLst>
              <a:ext uri="{FF2B5EF4-FFF2-40B4-BE49-F238E27FC236}">
                <a16:creationId xmlns:a16="http://schemas.microsoft.com/office/drawing/2014/main" id="{DC384DE6-DC75-8DDD-AC5F-A6BA45E84317}"/>
              </a:ext>
            </a:extLst>
          </p:cNvPr>
          <p:cNvSpPr txBox="1"/>
          <p:nvPr/>
        </p:nvSpPr>
        <p:spPr>
          <a:xfrm>
            <a:off x="3499190" y="1393889"/>
            <a:ext cx="6871855" cy="3170099"/>
          </a:xfrm>
          <a:prstGeom prst="rect">
            <a:avLst/>
          </a:prstGeom>
          <a:noFill/>
        </p:spPr>
        <p:txBody>
          <a:bodyPr wrap="square">
            <a:spAutoFit/>
          </a:bodyPr>
          <a:lstStyle/>
          <a:p>
            <a:pPr>
              <a:buNone/>
            </a:pPr>
            <a:r>
              <a:rPr lang="en-IN" sz="2000" b="1" dirty="0"/>
              <a:t>Hardware Requirements</a:t>
            </a:r>
            <a:endParaRPr lang="en-IN" sz="2000" dirty="0"/>
          </a:p>
          <a:p>
            <a:pPr marL="342900" lvl="0" indent="-342900">
              <a:buFont typeface="Arial" panose="020B0604020202020204" pitchFamily="34" charset="0"/>
              <a:buChar char="•"/>
            </a:pPr>
            <a:r>
              <a:rPr lang="en-IN" sz="2000" dirty="0"/>
              <a:t>Standard laptop/desktop computer </a:t>
            </a:r>
          </a:p>
          <a:p>
            <a:pPr marL="342900" lvl="0" indent="-342900">
              <a:buFont typeface="Arial" panose="020B0604020202020204" pitchFamily="34" charset="0"/>
              <a:buChar char="•"/>
            </a:pPr>
            <a:r>
              <a:rPr lang="en-IN" sz="2000" dirty="0"/>
              <a:t>Minimum 4 GB RAM </a:t>
            </a:r>
          </a:p>
          <a:p>
            <a:pPr marL="342900" lvl="0" indent="-342900">
              <a:buFont typeface="Arial" panose="020B0604020202020204" pitchFamily="34" charset="0"/>
              <a:buChar char="•"/>
            </a:pPr>
            <a:r>
              <a:rPr lang="en-IN" sz="2000" dirty="0"/>
              <a:t>1 GB free storage </a:t>
            </a:r>
          </a:p>
          <a:p>
            <a:pPr>
              <a:buNone/>
            </a:pPr>
            <a:r>
              <a:rPr lang="en-IN" sz="2000" b="1" dirty="0"/>
              <a:t>Software Requirements</a:t>
            </a:r>
            <a:endParaRPr lang="en-IN" sz="2000" dirty="0"/>
          </a:p>
          <a:p>
            <a:pPr marL="342900" lvl="0" indent="-342900">
              <a:buFont typeface="Arial" panose="020B0604020202020204" pitchFamily="34" charset="0"/>
              <a:buChar char="•"/>
            </a:pPr>
            <a:r>
              <a:rPr lang="en-IN" sz="2000" dirty="0"/>
              <a:t>Operating System: Windows 10/11 </a:t>
            </a:r>
          </a:p>
          <a:p>
            <a:pPr marL="342900" lvl="0" indent="-342900">
              <a:buFont typeface="Arial" panose="020B0604020202020204" pitchFamily="34" charset="0"/>
              <a:buChar char="•"/>
            </a:pPr>
            <a:r>
              <a:rPr lang="en-IN" sz="2000" dirty="0"/>
              <a:t>Programming Language: Java </a:t>
            </a:r>
          </a:p>
          <a:p>
            <a:pPr marL="342900" lvl="0" indent="-342900">
              <a:buFont typeface="Arial" panose="020B0604020202020204" pitchFamily="34" charset="0"/>
              <a:buChar char="•"/>
            </a:pPr>
            <a:r>
              <a:rPr lang="en-IN" sz="2000" dirty="0"/>
              <a:t>JDK: Java 17 or above </a:t>
            </a:r>
          </a:p>
          <a:p>
            <a:pPr marL="342900" lvl="0" indent="-342900">
              <a:buFont typeface="Arial" panose="020B0604020202020204" pitchFamily="34" charset="0"/>
              <a:buChar char="•"/>
            </a:pPr>
            <a:r>
              <a:rPr lang="en-IN" sz="2000" dirty="0"/>
              <a:t>IDE: IntelliJ IDEA / Eclipse / VS Code </a:t>
            </a:r>
          </a:p>
          <a:p>
            <a:pPr marL="342900" lvl="0" indent="-342900">
              <a:buFont typeface="Arial" panose="020B0604020202020204" pitchFamily="34" charset="0"/>
              <a:buChar char="•"/>
            </a:pPr>
            <a:r>
              <a:rPr lang="en-IN" sz="2000" dirty="0"/>
              <a:t>Data Structures: HashMap, </a:t>
            </a:r>
            <a:r>
              <a:rPr lang="en-IN" sz="2000" dirty="0" err="1"/>
              <a:t>ArrayList</a:t>
            </a:r>
            <a:r>
              <a:rPr lang="en-IN" sz="2000" dirty="0"/>
              <a:t>, Trees, etc.</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B14764C6-CDBA-81B7-60B2-569980A09397}"/>
              </a:ext>
            </a:extLst>
          </p:cNvPr>
          <p:cNvSpPr txBox="1"/>
          <p:nvPr/>
        </p:nvSpPr>
        <p:spPr>
          <a:xfrm>
            <a:off x="3383711" y="1557892"/>
            <a:ext cx="8244696" cy="3170099"/>
          </a:xfrm>
          <a:prstGeom prst="rect">
            <a:avLst/>
          </a:prstGeom>
          <a:noFill/>
        </p:spPr>
        <p:txBody>
          <a:bodyPr wrap="square">
            <a:spAutoFit/>
          </a:bodyPr>
          <a:lstStyle/>
          <a:p>
            <a:pPr marL="342900" lvl="0" indent="-342900">
              <a:buFont typeface="Arial" panose="020B0604020202020204" pitchFamily="34" charset="0"/>
              <a:buChar char="•"/>
            </a:pPr>
            <a:r>
              <a:rPr lang="en-IN" sz="2000" dirty="0"/>
              <a:t>The Symptom-to-Diagnosis Matcher successfully maps user-provided symptoms to possible diseases. </a:t>
            </a:r>
          </a:p>
          <a:p>
            <a:pPr marL="342900" lvl="0" indent="-342900">
              <a:buFont typeface="Arial" panose="020B0604020202020204" pitchFamily="34" charset="0"/>
              <a:buChar char="•"/>
            </a:pPr>
            <a:r>
              <a:rPr lang="en-IN" sz="2000" dirty="0"/>
              <a:t>Java data structures and algorithms are used to efficiently store, search, and match symptom–disease information. </a:t>
            </a:r>
          </a:p>
          <a:p>
            <a:pPr marL="342900" lvl="0" indent="-342900">
              <a:buFont typeface="Arial" panose="020B0604020202020204" pitchFamily="34" charset="0"/>
              <a:buChar char="•"/>
            </a:pPr>
            <a:r>
              <a:rPr lang="en-IN" sz="2000" dirty="0"/>
              <a:t>The system provides understandable and ranked diagnosis suggestions based on the entered symptoms. </a:t>
            </a:r>
          </a:p>
          <a:p>
            <a:pPr marL="342900" lvl="0" indent="-342900">
              <a:buFont typeface="Arial" panose="020B0604020202020204" pitchFamily="34" charset="0"/>
              <a:buChar char="•"/>
            </a:pPr>
            <a:r>
              <a:rPr lang="en-IN" sz="2000" dirty="0"/>
              <a:t>It demonstrates how DSA concepts can be applied to solve a practical healthcare-related problem. </a:t>
            </a:r>
          </a:p>
          <a:p>
            <a:pPr marL="342900" lvl="0" indent="-342900">
              <a:buFont typeface="Arial" panose="020B0604020202020204" pitchFamily="34" charset="0"/>
              <a:buChar char="•"/>
            </a:pPr>
            <a:r>
              <a:rPr lang="en-IN" sz="2000" dirty="0"/>
              <a:t>The system is intended as a decision-support tool and does not replace professional medical diagnosis.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7F9DDA66-0A17-122D-2C17-3A02D420B933}"/>
              </a:ext>
            </a:extLst>
          </p:cNvPr>
          <p:cNvSpPr txBox="1"/>
          <p:nvPr/>
        </p:nvSpPr>
        <p:spPr>
          <a:xfrm>
            <a:off x="3502324" y="1457864"/>
            <a:ext cx="7763773" cy="2862322"/>
          </a:xfrm>
          <a:prstGeom prst="rect">
            <a:avLst/>
          </a:prstGeom>
          <a:noFill/>
        </p:spPr>
        <p:txBody>
          <a:bodyPr wrap="square">
            <a:spAutoFit/>
          </a:bodyPr>
          <a:lstStyle/>
          <a:p>
            <a:pPr marL="342900" lvl="0" indent="-342900">
              <a:buFont typeface="Arial" panose="020B0604020202020204" pitchFamily="34" charset="0"/>
              <a:buChar char="•"/>
            </a:pPr>
            <a:r>
              <a:rPr lang="en-IN" sz="2000" dirty="0"/>
              <a:t>Add a larger and more detailed symptom–disease database. </a:t>
            </a:r>
          </a:p>
          <a:p>
            <a:pPr marL="342900" lvl="0" indent="-342900">
              <a:buFont typeface="Arial" panose="020B0604020202020204" pitchFamily="34" charset="0"/>
              <a:buChar char="•"/>
            </a:pPr>
            <a:r>
              <a:rPr lang="en-IN" sz="2000" dirty="0"/>
              <a:t>Improve matching accuracy using advanced algorithms and NLP techniques. </a:t>
            </a:r>
          </a:p>
          <a:p>
            <a:pPr marL="342900" lvl="0" indent="-342900">
              <a:buFont typeface="Arial" panose="020B0604020202020204" pitchFamily="34" charset="0"/>
              <a:buChar char="•"/>
            </a:pPr>
            <a:r>
              <a:rPr lang="en-IN" sz="2000" dirty="0"/>
              <a:t>Add a user-friendly graphical interface for easy symptom input. </a:t>
            </a:r>
          </a:p>
          <a:p>
            <a:pPr marL="342900" lvl="0" indent="-342900">
              <a:buFont typeface="Arial" panose="020B0604020202020204" pitchFamily="34" charset="0"/>
              <a:buChar char="•"/>
            </a:pPr>
            <a:r>
              <a:rPr lang="en-IN" sz="2000" dirty="0"/>
              <a:t>Provide severity levels and more detailed diagnosis suggestions. </a:t>
            </a:r>
          </a:p>
          <a:p>
            <a:pPr marL="342900" lvl="0" indent="-342900">
              <a:buFont typeface="Arial" panose="020B0604020202020204" pitchFamily="34" charset="0"/>
              <a:buChar char="•"/>
            </a:pPr>
            <a:r>
              <a:rPr lang="en-IN" sz="2000" dirty="0"/>
              <a:t>Add more languages to make the system accessible to more users. </a:t>
            </a:r>
          </a:p>
          <a:p>
            <a:pPr marL="342900" lvl="0" indent="-342900">
              <a:buFont typeface="Arial" panose="020B0604020202020204" pitchFamily="34" charset="0"/>
              <a:buChar char="•"/>
            </a:pPr>
            <a:r>
              <a:rPr lang="en-IN" sz="2000" dirty="0"/>
              <a:t>Integrate the system with healthcare databases or APIs for updated medical information. </a:t>
            </a:r>
          </a:p>
          <a:p>
            <a:pPr marL="342900" lvl="0" indent="-342900">
              <a:buFont typeface="Arial" panose="020B0604020202020204" pitchFamily="34" charset="0"/>
              <a:buChar char="•"/>
            </a:pPr>
            <a:r>
              <a:rPr lang="en-IN" sz="2000" dirty="0"/>
              <a:t>Develop a web or mobile application for real-time use.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951</Words>
  <Application>Microsoft Office PowerPoint</Application>
  <PresentationFormat>Widescreen</PresentationFormat>
  <Paragraphs>82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Symptom-to-Diagnosis Matcher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ronakaga357@outlook.com</cp:lastModifiedBy>
  <cp:revision>21</cp:revision>
  <dcterms:created xsi:type="dcterms:W3CDTF">2024-08-29T05:25:00Z</dcterms:created>
  <dcterms:modified xsi:type="dcterms:W3CDTF">2026-09-01T03:53:57Z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